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4"/>
  </p:sldMasterIdLst>
  <p:notesMasterIdLst>
    <p:notesMasterId r:id="rId19"/>
  </p:notesMasterIdLst>
  <p:sldIdLst>
    <p:sldId id="256" r:id="rId5"/>
    <p:sldId id="2146847054" r:id="rId6"/>
    <p:sldId id="262" r:id="rId7"/>
    <p:sldId id="265" r:id="rId8"/>
    <p:sldId id="266" r:id="rId9"/>
    <p:sldId id="267" r:id="rId10"/>
    <p:sldId id="2146847056" r:id="rId11"/>
    <p:sldId id="2146847057" r:id="rId12"/>
    <p:sldId id="2146847058" r:id="rId13"/>
    <p:sldId id="2146847059" r:id="rId14"/>
    <p:sldId id="268" r:id="rId15"/>
    <p:sldId id="2146847055" r:id="rId16"/>
    <p:sldId id="269" r:id="rId17"/>
    <p:sldId id="259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BA97"/>
    <a:srgbClr val="8E6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52" autoAdjust="0"/>
    <p:restoredTop sz="94660"/>
  </p:normalViewPr>
  <p:slideViewPr>
    <p:cSldViewPr snapToGrid="0">
      <p:cViewPr varScale="1">
        <p:scale>
          <a:sx n="90" d="100"/>
          <a:sy n="90" d="100"/>
        </p:scale>
        <p:origin x="168" y="45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256A78-79A6-408F-8148-4F87BB81602D}" type="datetimeFigureOut">
              <a:rPr lang="en-IN" smtClean="0"/>
              <a:t>21-07-2025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E254F1-4415-47BF-9E91-C5D4B9A333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8008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7/21/2025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5302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302026"/>
            <a:ext cx="11029615" cy="46733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7/21/2025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7/21/2025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49285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1391479"/>
            <a:ext cx="5194767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1391479"/>
            <a:ext cx="5194769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7/21/2025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7/21/2025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59224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7/21/2025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7/21/2025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7/21/2025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7/21/2025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7/21/2025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55714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1415198"/>
            <a:ext cx="11029616" cy="45728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7/21/2025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14A64E4D-8DED-7830-2955-1BE78C5B0655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485003" y="6437910"/>
            <a:ext cx="1125805" cy="36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archive.ics.uci.edu/ml/datasets/adult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11E26-4C38-41A6-9857-11032CEECD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9108" y="1821635"/>
            <a:ext cx="9144000" cy="977778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Employee Salary Prediction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-329782" y="1034321"/>
            <a:ext cx="12726648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3200" b="1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529" y="4586365"/>
            <a:ext cx="7980183" cy="132343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Presented By:</a:t>
            </a:r>
          </a:p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Name: Shaurya Pundir</a:t>
            </a:r>
          </a:p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College Name: Graphic Era Deemed to be University</a:t>
            </a:r>
          </a:p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Department:- Computer Science </a:t>
            </a:r>
          </a:p>
        </p:txBody>
      </p:sp>
    </p:spTree>
    <p:extLst>
      <p:ext uri="{BB962C8B-B14F-4D97-AF65-F5344CB8AC3E}">
        <p14:creationId xmlns:p14="http://schemas.microsoft.com/office/powerpoint/2010/main" val="953325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FEB4C-F209-4AE7-AA2B-B3C26CE2C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573" y="558468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78641-EEA3-4EC4-BF39-4075B0C120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8938"/>
            <a:ext cx="11019020" cy="523906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000" b="1" dirty="0">
                <a:latin typeface="Arial"/>
                <a:ea typeface="+mn-lt"/>
                <a:cs typeface="Arial"/>
              </a:rPr>
              <a:t>  </a:t>
            </a:r>
            <a:endParaRPr lang="en-US" dirty="0">
              <a:latin typeface="Arial"/>
              <a:cs typeface="Arial"/>
            </a:endParaRP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Problem Statement </a:t>
            </a: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Calibri"/>
              </a:rPr>
              <a:t>System </a:t>
            </a:r>
            <a:r>
              <a:rPr lang="en-US" sz="2000" b="1" dirty="0">
                <a:latin typeface="Arial"/>
                <a:ea typeface="+mn-lt"/>
                <a:cs typeface="+mn-lt"/>
              </a:rPr>
              <a:t>Development Approach </a:t>
            </a:r>
            <a:r>
              <a:rPr lang="en-US" sz="2000" dirty="0">
                <a:latin typeface="Arial"/>
                <a:ea typeface="+mn-lt"/>
                <a:cs typeface="+mn-lt"/>
              </a:rPr>
              <a:t> </a:t>
            </a:r>
            <a:endParaRPr lang="en-US" dirty="0">
              <a:latin typeface="Arial"/>
              <a:ea typeface="+mn-lt"/>
              <a:cs typeface="+mn-lt"/>
            </a:endParaRP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+mn-lt"/>
              </a:rPr>
              <a:t>Algorithm &amp; Deployment </a:t>
            </a:r>
            <a:endParaRPr lang="en-US" dirty="0">
              <a:latin typeface="Arial"/>
              <a:cs typeface="Calibri"/>
            </a:endParaRP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Result</a:t>
            </a: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Conclusion</a:t>
            </a:r>
            <a:endParaRPr lang="en-US" dirty="0">
              <a:latin typeface="Arial"/>
              <a:cs typeface="Arial"/>
            </a:endParaRP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Future Scope</a:t>
            </a: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References</a:t>
            </a:r>
            <a:endParaRPr lang="en-US" dirty="0">
              <a:latin typeface="Arial"/>
              <a:cs typeface="Arial"/>
            </a:endParaRPr>
          </a:p>
          <a:p>
            <a:pPr marL="305435" indent="-305435"/>
            <a:endParaRPr lang="en-US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00153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  <a:endParaRPr lang="en-US" sz="4400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FEE4A9C-3F57-7DA7-91FD-715C3FB47F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771" y="1402436"/>
            <a:ext cx="11029615" cy="4673324"/>
          </a:xfrm>
        </p:spPr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800" dirty="0"/>
              <a:t>Predicting an employee's salary class is a critical task for HR analytics, workforce planning, and economic forecasting.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Organizations often struggle to identify patterns in demographic and professional attributes that influence salary outcomes.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This project aims to build a predictive model that classifies whether an employee earns more than $50K or not based on key personal and job-related features.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Using a machine learning approach, we analyze structured data such as age, occupation, education, and work hours.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The final model is deployed using a </a:t>
            </a:r>
            <a:r>
              <a:rPr lang="en-US" sz="2800" b="1" dirty="0" err="1"/>
              <a:t>Streamlit</a:t>
            </a:r>
            <a:r>
              <a:rPr lang="en-US" sz="2800" b="1" dirty="0"/>
              <a:t> web application</a:t>
            </a:r>
            <a:r>
              <a:rPr lang="en-US" sz="2800" dirty="0"/>
              <a:t> for real-time and batch salary class predictions.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1186421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662572"/>
            <a:ext cx="11029616" cy="530296"/>
          </a:xfrm>
        </p:spPr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System  Approach</a:t>
            </a:r>
            <a:endParaRPr lang="en-US" sz="4400" dirty="0">
              <a:solidFill>
                <a:schemeClr val="accent1"/>
              </a:solidFill>
              <a:latin typeface="Calibri Light"/>
              <a:cs typeface="Calibri Light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D3FCA5D2-CDF8-D6BC-FF66-EF0955F22DD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1192" y="1206286"/>
            <a:ext cx="10311864" cy="58323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🔧 System Requirements:</a:t>
            </a:r>
          </a:p>
          <a:p>
            <a:pPr marL="3240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Hardware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727200" lvl="2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64-bit system, minimum 8 GB RAM, multi-core CPU</a:t>
            </a:r>
          </a:p>
          <a:p>
            <a:pPr marL="3240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Software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727200" lvl="2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OS: Windows/Linux/MacOS</a:t>
            </a:r>
          </a:p>
          <a:p>
            <a:pPr marL="727200" lvl="2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Python 3.10+</a:t>
            </a:r>
          </a:p>
          <a:p>
            <a:pPr marL="727200" lvl="2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7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Jupyter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Notebook (for training &amp; development)</a:t>
            </a:r>
          </a:p>
          <a:p>
            <a:pPr marL="727200" lvl="2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7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Streamlit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(for deployment)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5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📦 Libraries Required:</a:t>
            </a:r>
          </a:p>
          <a:p>
            <a:pPr marL="3240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Handling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727200" lvl="2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pandas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9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numpy</a:t>
            </a:r>
            <a:endParaRPr kumimoji="0" lang="en-US" altLang="en-U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3240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Visualization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727200" lvl="2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matplotlib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seaborn</a:t>
            </a:r>
            <a:endParaRPr kumimoji="0" lang="en-US" altLang="en-U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3240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Machine Learning / Deep Learning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727200" lvl="2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scikit-learn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9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tensorflow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9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keras</a:t>
            </a:r>
            <a:endParaRPr kumimoji="0" lang="en-US" altLang="en-U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3240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 Deployment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727200" lvl="2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9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streamlit</a:t>
            </a:r>
            <a:endParaRPr kumimoji="0" lang="en-US" altLang="en-U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3240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 Serialization &amp; Encoding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727200" lvl="2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9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LabelEncoder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9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joblib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(optional for 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.</a:t>
            </a:r>
            <a:r>
              <a:rPr kumimoji="0" lang="en-US" altLang="en-US" sz="19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pkl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), 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h5py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(for 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.h5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models)</a:t>
            </a:r>
            <a:endParaRPr kumimoji="0" lang="en-US" altLang="en-U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20245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Algorithm &amp; Deployment</a:t>
            </a:r>
            <a:endParaRPr 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B95678B-9BCC-00A2-5D32-AE51530F7FD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1193" y="1585129"/>
            <a:ext cx="8383192" cy="50321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Collection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240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the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Adult Income Dataset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from the UCI Machine Learning Repository.</a:t>
            </a:r>
          </a:p>
          <a:p>
            <a:pPr marL="3240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Contains demographic and employment details to predict salary category (</a:t>
            </a:r>
            <a:r>
              <a:rPr kumimoji="0" lang="en-US" altLang="en-US" sz="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&gt;50K</a:t>
            </a:r>
            <a:r>
              <a:rPr kumimoji="0" lang="en-US" altLang="en-US" sz="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or </a:t>
            </a:r>
            <a:r>
              <a:rPr kumimoji="0" lang="en-US" altLang="en-US" sz="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&lt;=50K</a:t>
            </a:r>
            <a:r>
              <a:rPr kumimoji="0" lang="en-US" altLang="en-US" sz="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).</a:t>
            </a: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Preprocessing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240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Handled missing values, label encoding for categorical features.</a:t>
            </a:r>
          </a:p>
          <a:p>
            <a:pPr marL="3240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Standardized numerical columns for some models.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 Building &amp; Training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Trained and compared multiple classification algorithms:</a:t>
            </a:r>
          </a:p>
          <a:p>
            <a:pPr marL="3240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✅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Decision Tree Classifier</a:t>
            </a: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240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✅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Random Forest Classifier</a:t>
            </a: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240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✅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Multi-Layer Perceptron (MLP)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using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Keras</a:t>
            </a: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240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Evaluated all models using accuracy, precision, recall, and confusion matrix.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 Selection &amp; Saving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240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MLP achieved the best generalization(84) performance and was saved as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.h5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for deployment.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240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Other models used for comparison and validation of performance.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Deployment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240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Created an interactive </a:t>
            </a:r>
            <a:r>
              <a:rPr kumimoji="0" lang="en-US" altLang="en-US" sz="15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Streamlit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Web App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as the frontend.</a:t>
            </a:r>
          </a:p>
          <a:p>
            <a:pPr marL="3240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 loads the 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.h5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model, accepts user input, preprocesses it, and returns predictions.</a:t>
            </a: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240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Also supports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batch predictions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via CSV file upload.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45087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Result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DEE80C5-D611-1659-B066-913E87DDF54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8172996"/>
              </p:ext>
            </p:extLst>
          </p:nvPr>
        </p:nvGraphicFramePr>
        <p:xfrm>
          <a:off x="857472" y="1928746"/>
          <a:ext cx="11029950" cy="1463040"/>
        </p:xfrm>
        <a:graphic>
          <a:graphicData uri="http://schemas.openxmlformats.org/drawingml/2006/table">
            <a:tbl>
              <a:tblPr/>
              <a:tblGrid>
                <a:gridCol w="3676650">
                  <a:extLst>
                    <a:ext uri="{9D8B030D-6E8A-4147-A177-3AD203B41FA5}">
                      <a16:colId xmlns:a16="http://schemas.microsoft.com/office/drawing/2014/main" val="4088388615"/>
                    </a:ext>
                  </a:extLst>
                </a:gridCol>
                <a:gridCol w="3676650">
                  <a:extLst>
                    <a:ext uri="{9D8B030D-6E8A-4147-A177-3AD203B41FA5}">
                      <a16:colId xmlns:a16="http://schemas.microsoft.com/office/drawing/2014/main" val="945611259"/>
                    </a:ext>
                  </a:extLst>
                </a:gridCol>
                <a:gridCol w="3676650">
                  <a:extLst>
                    <a:ext uri="{9D8B030D-6E8A-4147-A177-3AD203B41FA5}">
                      <a16:colId xmlns:a16="http://schemas.microsoft.com/office/drawing/2014/main" val="112606017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highlight>
                            <a:srgbClr val="FFFF00"/>
                          </a:highlight>
                        </a:rPr>
                        <a:t>Model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highlight>
                            <a:srgbClr val="FFFF00"/>
                          </a:highlight>
                        </a:rPr>
                        <a:t>Accuracy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highlight>
                            <a:srgbClr val="FFFF00"/>
                          </a:highlight>
                        </a:rPr>
                        <a:t>Comments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70128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Decision Tree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~82%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Simple but prone to overfitting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83232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Random Forest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~85%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Better generalization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59090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MLP (Neural Network)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~86%+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Best performance (used in app)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936127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B61B105-0DB9-A4DA-0992-DECC3F7342D3}"/>
              </a:ext>
            </a:extLst>
          </p:cNvPr>
          <p:cNvSpPr txBox="1"/>
          <p:nvPr/>
        </p:nvSpPr>
        <p:spPr>
          <a:xfrm>
            <a:off x="522546" y="1483652"/>
            <a:ext cx="60951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Model Comparisons: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12B58E-81EF-AC5B-488D-1F4F7475A751}"/>
              </a:ext>
            </a:extLst>
          </p:cNvPr>
          <p:cNvSpPr txBox="1"/>
          <p:nvPr/>
        </p:nvSpPr>
        <p:spPr>
          <a:xfrm>
            <a:off x="581192" y="3715803"/>
            <a:ext cx="609511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Code &amp; Output Screenshots:</a:t>
            </a:r>
          </a:p>
          <a:p>
            <a:r>
              <a:rPr lang="en-IN" dirty="0"/>
              <a:t> </a:t>
            </a:r>
          </a:p>
          <a:p>
            <a:r>
              <a:rPr lang="en-IN" dirty="0"/>
              <a:t>   1) Data preprocessing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4F1B55C-05DC-AB32-904A-ED5B0D4A58D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9263" b="32659"/>
          <a:stretch>
            <a:fillRect/>
          </a:stretch>
        </p:blipFill>
        <p:spPr>
          <a:xfrm>
            <a:off x="4359349" y="4038969"/>
            <a:ext cx="2849146" cy="2819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2933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7540716-D6B9-ADCD-E1D2-02E1F28D397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6105"/>
          <a:stretch>
            <a:fillRect/>
          </a:stretch>
        </p:blipFill>
        <p:spPr>
          <a:xfrm>
            <a:off x="1014361" y="654352"/>
            <a:ext cx="5712581" cy="210479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0D8CF10-39E8-B243-6986-43158D7586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4871" y="765544"/>
            <a:ext cx="4386730" cy="42530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4A45BF9-5BC8-1007-0BEF-C9AF46DB3A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6511" y="2822946"/>
            <a:ext cx="3656296" cy="3989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53443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BE7DD70-DAB7-7A53-667B-C7DF5D49D6FE}"/>
              </a:ext>
            </a:extLst>
          </p:cNvPr>
          <p:cNvSpPr txBox="1"/>
          <p:nvPr/>
        </p:nvSpPr>
        <p:spPr>
          <a:xfrm>
            <a:off x="400050" y="660622"/>
            <a:ext cx="60951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2) Model training:-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A5D83C-49E0-4464-8719-34199A87DD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192" y="1029954"/>
            <a:ext cx="4578537" cy="54226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1891A06-9694-6A49-DFDF-B870ED231B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8767" y="660622"/>
            <a:ext cx="4406026" cy="408250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AFF4E8A-DB79-37FB-C181-42D0F6F1AB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8767" y="4615731"/>
            <a:ext cx="4727223" cy="3087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0383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D35EB6A-8A96-D522-EE94-9FF995EA76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8317" y="743873"/>
            <a:ext cx="5474112" cy="150822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F7832D8-2205-2BF2-F0F1-F4083E4EEA86}"/>
              </a:ext>
            </a:extLst>
          </p:cNvPr>
          <p:cNvSpPr txBox="1"/>
          <p:nvPr/>
        </p:nvSpPr>
        <p:spPr>
          <a:xfrm>
            <a:off x="447897" y="2563851"/>
            <a:ext cx="60951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3)</a:t>
            </a:r>
            <a:r>
              <a:rPr lang="en-US" dirty="0" err="1"/>
              <a:t>Streamlit</a:t>
            </a:r>
            <a:r>
              <a:rPr lang="en-US" dirty="0"/>
              <a:t> App running in the browser:-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C98C95B-C1D7-78AB-EAF4-60235EC88F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4410" y="2783564"/>
            <a:ext cx="3982450" cy="4074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02004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4719C59-E7A1-4CED-0412-7F2A274085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5596" y="636756"/>
            <a:ext cx="7056884" cy="413510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C595654-90B5-8F45-3B57-35E5F856F314}"/>
              </a:ext>
            </a:extLst>
          </p:cNvPr>
          <p:cNvSpPr txBox="1"/>
          <p:nvPr/>
        </p:nvSpPr>
        <p:spPr>
          <a:xfrm>
            <a:off x="325623" y="5243877"/>
            <a:ext cx="609511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GITHUB LINK:- </a:t>
            </a:r>
          </a:p>
          <a:p>
            <a:r>
              <a:rPr lang="en-US" sz="2000" b="1" dirty="0"/>
              <a:t> </a:t>
            </a:r>
            <a:r>
              <a:rPr lang="en-US" sz="2000" dirty="0"/>
              <a:t>https://github.com/ShauryaPundirGraphicEra/Edunet-AICTE-Internship-Project</a:t>
            </a:r>
          </a:p>
        </p:txBody>
      </p:sp>
    </p:spTree>
    <p:extLst>
      <p:ext uri="{BB962C8B-B14F-4D97-AF65-F5344CB8AC3E}">
        <p14:creationId xmlns:p14="http://schemas.microsoft.com/office/powerpoint/2010/main" val="40274538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Conclusion</a:t>
            </a:r>
            <a:endParaRPr lang="en-US"/>
          </a:p>
        </p:txBody>
      </p:sp>
      <p:sp>
        <p:nvSpPr>
          <p:cNvPr id="13" name="Rectangle 10">
            <a:extLst>
              <a:ext uri="{FF2B5EF4-FFF2-40B4-BE49-F238E27FC236}">
                <a16:creationId xmlns:a16="http://schemas.microsoft.com/office/drawing/2014/main" id="{98031C3D-34A7-61E0-EC67-4FFC3A4157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221" y="1701155"/>
            <a:ext cx="12069330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5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goal of predicting whether an individual earns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&gt;50K or ≤50K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based on personal and professional attributes was successfully achieved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500" dirty="0">
                <a:latin typeface="Arial" panose="020B0604020202020204" pitchFamily="34" charset="0"/>
              </a:rPr>
              <a:t>  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using multiple machine learning models.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Among all tested algorithms, the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Multi-Layer Perceptron (MLP)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showed the highest prediction accuracy (~86%), making it the best choice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500" dirty="0">
                <a:latin typeface="Arial" panose="020B0604020202020204" pitchFamily="34" charset="0"/>
              </a:rPr>
              <a:t>  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deployment.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user-friendly </a:t>
            </a:r>
            <a:r>
              <a:rPr kumimoji="0" lang="en-US" altLang="en-US" sz="15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Streamlit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web application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was developed to allow real-time and batch predictions, making the solution accessible and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interactive.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Rectangle 12">
            <a:extLst>
              <a:ext uri="{FF2B5EF4-FFF2-40B4-BE49-F238E27FC236}">
                <a16:creationId xmlns:a16="http://schemas.microsoft.com/office/drawing/2014/main" id="{61615B1C-C719-1372-C65D-E8269EF60F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221" y="3796379"/>
            <a:ext cx="9789859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Challenges Faced: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5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Preprocessing categorical variables (encoding) while ensuring consistency during both training and deployment.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Model input shape mismatches during integration of 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.h5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Keras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model with the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Streamlit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app.</a:t>
            </a: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Balancing dataset features and avoiding overfitting, especially with Decision Trees.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33151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F968F13-9AC4-7120-7ACD-9F752C767D5D}"/>
              </a:ext>
            </a:extLst>
          </p:cNvPr>
          <p:cNvSpPr txBox="1">
            <a:spLocks/>
          </p:cNvSpPr>
          <p:nvPr/>
        </p:nvSpPr>
        <p:spPr>
          <a:xfrm>
            <a:off x="535670" y="844659"/>
            <a:ext cx="11029616" cy="53029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5000" lnSpcReduction="20000"/>
          </a:bodyPr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b="1" dirty="0">
                <a:solidFill>
                  <a:schemeClr val="accent1"/>
                </a:solidFill>
                <a:latin typeface="Arial"/>
                <a:cs typeface="Arial"/>
              </a:rPr>
              <a:t>Future scope(Optional)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47AFAE0-272C-2395-3EFA-4C74B1E9424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1192" y="2270347"/>
            <a:ext cx="8433719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Integrate additional real-world data to improve model generalization.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 model explanation features (e.g., SHAP or LIME) to improve interpretability.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Enhance the UI with input validations and allow model selection in the app itself.</a:t>
            </a:r>
          </a:p>
        </p:txBody>
      </p:sp>
    </p:spTree>
    <p:extLst>
      <p:ext uri="{BB962C8B-B14F-4D97-AF65-F5344CB8AC3E}">
        <p14:creationId xmlns:p14="http://schemas.microsoft.com/office/powerpoint/2010/main" val="6148826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References</a:t>
            </a:r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57C38BC-22B3-37B2-E0C3-812020A760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z="2400" b="1" dirty="0"/>
              <a:t>UCI Machine Learning Repository – Adult Dataset</a:t>
            </a:r>
            <a:br>
              <a:rPr lang="en-US" sz="2400" dirty="0"/>
            </a:br>
            <a:r>
              <a:rPr lang="en-US" sz="2400" i="1" dirty="0">
                <a:hlinkClick r:id="rId2"/>
              </a:rPr>
              <a:t>https://archive.ics.uci.edu/ml/datasets/adult</a:t>
            </a:r>
            <a:br>
              <a:rPr lang="en-US" sz="2400" dirty="0"/>
            </a:br>
            <a:r>
              <a:rPr lang="en-US" sz="2400" dirty="0"/>
              <a:t>(Used for training and testing the salary classification models)</a:t>
            </a:r>
          </a:p>
          <a:p>
            <a:r>
              <a:rPr lang="en-US" sz="2400" b="1" dirty="0"/>
              <a:t>Scikit-learn Documentation</a:t>
            </a:r>
            <a:br>
              <a:rPr lang="en-US" sz="2400" dirty="0"/>
            </a:br>
            <a:r>
              <a:rPr lang="en-US" sz="2400" i="1" dirty="0"/>
              <a:t>https://scikit-learn.org/stable/documentation.html</a:t>
            </a:r>
            <a:br>
              <a:rPr lang="en-US" sz="2400" dirty="0"/>
            </a:br>
            <a:r>
              <a:rPr lang="en-US" sz="2400" dirty="0"/>
              <a:t>(Used for Decision Tree and Random Forest model development)</a:t>
            </a:r>
          </a:p>
          <a:p>
            <a:r>
              <a:rPr lang="en-US" sz="2400" b="1" dirty="0"/>
              <a:t>TensorFlow/</a:t>
            </a:r>
            <a:r>
              <a:rPr lang="en-US" sz="2400" b="1" dirty="0" err="1"/>
              <a:t>Keras</a:t>
            </a:r>
            <a:r>
              <a:rPr lang="en-US" sz="2400" b="1" dirty="0"/>
              <a:t> Documentation</a:t>
            </a:r>
            <a:br>
              <a:rPr lang="en-US" sz="2400" dirty="0"/>
            </a:br>
            <a:r>
              <a:rPr lang="en-US" sz="2400" i="1" dirty="0"/>
              <a:t>https://www.tensorflow.org/guide/keras</a:t>
            </a:r>
            <a:br>
              <a:rPr lang="en-US" sz="2400" dirty="0"/>
            </a:br>
            <a:r>
              <a:rPr lang="en-US" sz="2400" dirty="0"/>
              <a:t>(Used to design and train the MLP neural network)</a:t>
            </a:r>
          </a:p>
          <a:p>
            <a:r>
              <a:rPr lang="en-US" sz="2400" b="1" dirty="0" err="1"/>
              <a:t>Streamlit</a:t>
            </a:r>
            <a:r>
              <a:rPr lang="en-US" sz="2400" b="1" dirty="0"/>
              <a:t> Documentation</a:t>
            </a:r>
            <a:br>
              <a:rPr lang="en-US" sz="2400" dirty="0"/>
            </a:br>
            <a:r>
              <a:rPr lang="en-US" sz="2400" i="1" dirty="0"/>
              <a:t>https://docs.streamlit.io/</a:t>
            </a:r>
            <a:br>
              <a:rPr lang="en-US" sz="2400" dirty="0"/>
            </a:br>
            <a:r>
              <a:rPr lang="en-US" sz="2400" dirty="0"/>
              <a:t>(Used to build and deploy the interactive web application)</a:t>
            </a:r>
          </a:p>
          <a:p>
            <a:r>
              <a:rPr lang="en-US" sz="2400" dirty="0"/>
              <a:t>Géron, Aurélien. </a:t>
            </a:r>
            <a:r>
              <a:rPr lang="en-US" sz="2400" i="1" dirty="0"/>
              <a:t>Hands-On Machine Learning with Scikit-Learn, </a:t>
            </a:r>
            <a:r>
              <a:rPr lang="en-US" sz="2400" i="1" dirty="0" err="1"/>
              <a:t>Keras</a:t>
            </a:r>
            <a:r>
              <a:rPr lang="en-US" sz="2400" i="1" dirty="0"/>
              <a:t>, and TensorFlow</a:t>
            </a:r>
            <a:r>
              <a:rPr lang="en-US" sz="2400" dirty="0"/>
              <a:t>, 2nd Edition.</a:t>
            </a:r>
            <a:br>
              <a:rPr lang="en-US" sz="2400" dirty="0"/>
            </a:br>
            <a:r>
              <a:rPr lang="en-US" sz="2400" dirty="0"/>
              <a:t>(For guidance on best practices in model building and deployment)</a:t>
            </a:r>
          </a:p>
          <a:p>
            <a:pPr marL="0" indent="0"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7289502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BE4CA82-64EC-4D4E-A5E5-3EBB66E7B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1" y="2766218"/>
            <a:ext cx="9298744" cy="1325563"/>
          </a:xfrm>
        </p:spPr>
        <p:txBody>
          <a:bodyPr/>
          <a:lstStyle/>
          <a:p>
            <a:pPr algn="ctr"/>
            <a:r>
              <a:rPr lang="en-US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066255318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F1872188ABCFC48BECA6C87E8AC3285" ma:contentTypeVersion="17" ma:contentTypeDescription="Create a new document." ma:contentTypeScope="" ma:versionID="55a158675e089c6a85ab0f83b89e1a15">
  <xsd:schema xmlns:xsd="http://www.w3.org/2001/XMLSchema" xmlns:xs="http://www.w3.org/2001/XMLSchema" xmlns:p="http://schemas.microsoft.com/office/2006/metadata/properties" xmlns:ns3="9162bd5b-4ed9-4da3-b376-05204580ba3f" xmlns:ns4="c0fa2617-96bd-425d-8578-e93563fe37c5" targetNamespace="http://schemas.microsoft.com/office/2006/metadata/properties" ma:root="true" ma:fieldsID="b35f082308864fa161c4a0a9eca35eff" ns3:_="" ns4:_="">
    <xsd:import namespace="9162bd5b-4ed9-4da3-b376-05204580ba3f"/>
    <xsd:import namespace="c0fa2617-96bd-425d-8578-e93563fe37c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_activity" minOccurs="0"/>
                <xsd:element ref="ns3:MediaServiceObjectDetectorVersion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62bd5b-4ed9-4da3-b376-05204580ba3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fa2617-96bd-425d-8578-e93563fe37c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9162bd5b-4ed9-4da3-b376-05204580ba3f" xsi:nil="true"/>
    <_activity xmlns="9162bd5b-4ed9-4da3-b376-05204580ba3f" xsi:nil="true"/>
  </documentManagement>
</p:properties>
</file>

<file path=customXml/itemProps1.xml><?xml version="1.0" encoding="utf-8"?>
<ds:datastoreItem xmlns:ds="http://schemas.openxmlformats.org/officeDocument/2006/customXml" ds:itemID="{6E816721-11E4-4989-8472-AB5A7EC20404}">
  <ds:schemaRefs>
    <ds:schemaRef ds:uri="9162bd5b-4ed9-4da3-b376-05204580ba3f"/>
    <ds:schemaRef ds:uri="c0fa2617-96bd-425d-8578-e93563fe37c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927BD4C1-B6B1-4715-ABF9-E660A51A4EA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D289AE2-D2AE-49D1-AFAC-3A79F6794255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c0fa2617-96bd-425d-8578-e93563fe37c5"/>
    <ds:schemaRef ds:uri="9162bd5b-4ed9-4da3-b376-05204580ba3f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Future forward</Template>
  <TotalTime>434</TotalTime>
  <Words>806</Words>
  <Application>Microsoft Office PowerPoint</Application>
  <PresentationFormat>Widescreen</PresentationFormat>
  <Paragraphs>108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Arial</vt:lpstr>
      <vt:lpstr>Arial Unicode MS</vt:lpstr>
      <vt:lpstr>Calibri</vt:lpstr>
      <vt:lpstr>Calibri Light</vt:lpstr>
      <vt:lpstr>Franklin Gothic Book</vt:lpstr>
      <vt:lpstr>Franklin Gothic Demi</vt:lpstr>
      <vt:lpstr>Wingdings 2</vt:lpstr>
      <vt:lpstr>DividendVTI</vt:lpstr>
      <vt:lpstr>Employee Salary Prediction</vt:lpstr>
      <vt:lpstr>OUTLINE</vt:lpstr>
      <vt:lpstr>Problem Statement</vt:lpstr>
      <vt:lpstr>System  Approach</vt:lpstr>
      <vt:lpstr>Algorithm &amp; Deployment</vt:lpstr>
      <vt:lpstr>Result</vt:lpstr>
      <vt:lpstr>PowerPoint Presentation</vt:lpstr>
      <vt:lpstr>PowerPoint Presentation</vt:lpstr>
      <vt:lpstr>PowerPoint Presentation</vt:lpstr>
      <vt:lpstr>PowerPoint Presentation</vt:lpstr>
      <vt:lpstr>Conclusion</vt:lpstr>
      <vt:lpstr>PowerPoint Presentation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SkillsBuild Partner Update template</dc:title>
  <dc:creator>Vaibhav Ostwal</dc:creator>
  <cp:lastModifiedBy>Shaurya Pundir</cp:lastModifiedBy>
  <cp:revision>46</cp:revision>
  <dcterms:created xsi:type="dcterms:W3CDTF">2021-05-26T16:50:10Z</dcterms:created>
  <dcterms:modified xsi:type="dcterms:W3CDTF">2025-07-21T13:05:08Z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0x0101000F1872188ABCFC48BECA6C87E8AC3285</vt:lpwstr>
  </property>
</Properties>
</file>